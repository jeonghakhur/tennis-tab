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맑은 고딕"/>
              </a:defRPr>
            </a:pPr>
            <a:r>
              <a:t>종합 테니스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맑은 고딕"/>
              </a:defRPr>
            </a:pPr>
            <a:r>
              <a:t>Tennis-Tab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맑은 고딕"/>
              </a:defRPr>
            </a:pPr>
            <a:r>
              <a:t>대회 관리  ·  클럽 운영  ·  레슨 시스템  ·  커뮤니티  ·  AI 챗봇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1554480" cy="320040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Next.js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754880"/>
            <a:ext cx="1316736" cy="320040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1616" y="4754880"/>
            <a:ext cx="1316736" cy="320040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25512" y="4754880"/>
            <a:ext cx="1554480" cy="320040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7152" y="4754880"/>
            <a:ext cx="1792224" cy="320040"/>
          </a:xfrm>
          <a:prstGeom prst="roundRect">
            <a:avLst>
              <a:gd name="adj" fmla="val 30000"/>
            </a:avLst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🏆  대회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단식/복식/단체전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예선·본선 대진표 자동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참가 신청 &amp; 결제 통합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🎾  클럽 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회원 관리 &amp; 역할 체계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95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정기 모임 &amp; 자동 대진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88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경기 결과 &amp; 통계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46304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📚  레슨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코치 등록 &amp; 프로그램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957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수강 신청 &amp; 일정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8833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출석 &amp; 결제 추적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💬  커뮤니티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공지·자유·정보·후기 게시판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64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댓글, 좋아요, 파일 첨부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맑은 고딕"/>
              </a:defRPr>
            </a:pPr>
            <a:r>
              <a:t>🤖  AI 챗봇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대회 검색 &amp; 참가 신청 자동화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864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의도 분류 기반 대화 처리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93192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맑은 고딕"/>
              </a:defRPr>
            </a:pPr>
            <a:r>
              <a:t>🔔  알림 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72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15가지 알림 유형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646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카카오 알림톡 연동 (Solapi)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기술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57200"/>
          </a:xfrm>
          <a:prstGeom prst="roundRect">
            <a:avLst>
              <a:gd name="adj" fmla="val 3000"/>
            </a:avLst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프론트엔드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Next.js 16 (App Router, Turbopack)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React 19 (Server Components)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089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Tailwind CSS + 다크모드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DnD Kit (드래그앤드롭)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Tiptap (리치 텍스트 에디터)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63040"/>
            <a:ext cx="3383280" cy="457200"/>
          </a:xfrm>
          <a:prstGeom prst="roundRect">
            <a:avLst>
              <a:gd name="adj" fmla="val 3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백엔드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0312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48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Server Actions (인증·권한 체크)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60604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Supabase (PostgreSQL + RLS)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089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Supabase Realtime (실시간)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1188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Supabase Storage (파일 업로드)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11480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Redis (세션 캐시)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1463040"/>
            <a:ext cx="3383280" cy="457200"/>
          </a:xfrm>
          <a:prstGeom prst="roundRect">
            <a:avLst>
              <a:gd name="adj" fmla="val 3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외부 서비스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210312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Toss Payments (결제/환불)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260604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Naver OAuth (소셜 로그인)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10896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154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Solapi (카카오 알림톡)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61188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Google GenAI (AI 챗봇)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114800"/>
            <a:ext cx="320040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160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Vercel (배포 &amp; CDN)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보안 패턴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39496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422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맑은 고딕"/>
              </a:defRPr>
            </a:pPr>
            <a:r>
              <a:t>Server Actions — 모든 mutation에 인증/권한 체크 필수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94760" y="539496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0" y="5422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맑은 고딕"/>
              </a:defRPr>
            </a:pPr>
            <a:r>
              <a:t>입력값 3단계 검증 — 클라이언트 sanitize → 서버 validate → DB 제약조건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39496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5422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맑은 고딕"/>
              </a:defRPr>
            </a:pPr>
            <a:r>
              <a:t>TypeScript strict — any 타입 금지, XSS 방지 sanitize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21240" y="5394960"/>
            <a:ext cx="2926080" cy="3657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54223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1F5F9"/>
                </a:solidFill>
                <a:latin typeface="맑은 고딕"/>
              </a:defRPr>
            </a:pPr>
            <a:r>
              <a:t>환경변수 — 미설정 시 throw (fallback 키 금지)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대회 관리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대회 상태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960120" cy="32004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01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828800"/>
            <a:ext cx="1316736" cy="320040"/>
          </a:xfrm>
          <a:prstGeom prst="roundRect">
            <a:avLst>
              <a:gd name="adj" fmla="val 30000"/>
            </a:avLst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UPCOMING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416" y="1801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7016" y="18288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801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2584" y="1828800"/>
            <a:ext cx="1078992" cy="32004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1801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25896" y="1828800"/>
            <a:ext cx="1673352" cy="320040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IN_PROGRESS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801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828800"/>
            <a:ext cx="1435607" cy="320040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참가 신청 프로세스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1792224" cy="3200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신청 (PENDING)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2898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43784" y="2926080"/>
            <a:ext cx="603504" cy="3200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898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67328" y="2926080"/>
            <a:ext cx="960120" cy="3200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승인/거절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898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2926080"/>
            <a:ext cx="603504" cy="3200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결제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6712" y="28986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71032" y="2926080"/>
            <a:ext cx="2029968" cy="320040"/>
          </a:xfrm>
          <a:prstGeom prst="roundRect">
            <a:avLst>
              <a:gd name="adj" fmla="val 3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확정 (CONFIRMED)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5661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749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📊  대진표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조편성: 드래그앤드롭으로 팀 배치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98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예선: 조별 풀리그 → 상위팀 본선 진출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9145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본선: Single/Double Elimination 자동 생성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08406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매치 페이즈: 128강 → 64강 → ... → 결승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766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3/4위전 지원 (선택)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단체전: Best-of-N 세트별 상세 결과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618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DEV: 자동 결과 입력 (랜덤 점수 생성)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56616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749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🎾  지원 경기 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20624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개인전 단식 (Singles)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98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개인전 복식 (Doubles) — 파트너 정보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791456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단체전 단식 (Team Singles)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084064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단체전 복식 (Team Doubles)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3766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세트별 선수 배정 + 점수 기록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결제: Toss Payments 연동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9618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환불: 관리자 처리 + 알림톡 발송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클럽 운영 &amp; 레슨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🏠  클럽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가입 유형: OPEN / APPROVAL / INVITE_ONLY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회원 역할: OWNER &gt; ADMIN &gt; 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96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회원 상태: ACTIVE / PENDING / INVITED / LEFT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지역 기반 검색 (시·군·구)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협회 소속 연결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📅  클럽 모임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RSVP: ATTENDING / NOT_ATTENDING / UNDECIDED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042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자동 대진: 성별·시간 가용성 고려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968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경기 종류: 단식 / 복식(남/여/혼합)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게스트 참석 지원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182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분쟁 해결: 점수 불일치 시 관리자 결정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📚  레슨 프로그램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코치 등록: 경력, 자격증,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64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프로그램: 레벨별 (입문~고급)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57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요금: 평일/주말, 1인/2인 차등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49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수강 상태: PENDING → CONFIRMED → WAITLISTED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슬롯 기반 일정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레슨 문의: 슬롯 없을 때 희망 일정 신청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⚙️  레슨 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출석 관리: PRESENT / ABSENT / 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64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일정 변경 요청 &amp; 승인 프로세스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157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월별 결제 기록 (계좌이체/현금/기타)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4498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패키지 연장: 월별 독립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연장 알림톡: Solapi 카카오 알림톡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035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코치 어드민: 코치별 레슨 관리 페이지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사용자 경험 &amp; 부가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맑은 고딕"/>
              </a:defRPr>
            </a:pPr>
            <a:r>
              <a:t>🤖  AI 챗봇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Google GenAI 기반 의도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04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대회 검색 &amp; 정보 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968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참가 신청 대화형 플로우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95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복식 파트너 검색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단체전 팀원 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참가 취소 자동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67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수상 기록 &amp; 대진표 조회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맑은 고딕"/>
              </a:defRPr>
            </a:pPr>
            <a:r>
              <a:t>💬  커뮤니티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카테고리: 공지/자유/정보/후기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304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Tiptap 리치 텍스트 에디터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968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이미지 &amp; 문서 파일 첨부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댓글 &amp; 좋아요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조회수 추적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관리자 상단 고정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767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카카오톡 공유 버튼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37160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54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👤  마이페이지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프로필 조회 &amp;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04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내 참가 내역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5968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내 클럽 &amp; 회원 전적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895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내 레슨 수강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1821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레슨 연장 신청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알림 센터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7673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예약 현황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맑은 고딕"/>
              </a:defRPr>
            </a:pPr>
            <a:r>
              <a:t>🔔  알림 시스템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15가지 알림 유형 (사용자 10 + 관리자 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218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카카오 알림톡 (Solapi)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6144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인앱 알림 센터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907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실시간 읽음 처리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💳  결제 &amp; 정산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Toss Payments SDK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3218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참가비 결제 &amp; 상태 추적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56144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관리자 환불 처리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5907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레슨비 월별 결제 기록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4389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4572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🔍  SEO &amp; 공유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029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OG / Twitter Card 메타태그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3218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JSON-LD 구조화 데이터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6144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Sitemap &amp; Robots.txt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90702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카카오톡 공유 (범용)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권한 체계 &amp; 관리자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시스템 권한 레벨 (5단계)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Lv.4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SUPER_ADMIN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전체 시스템 관리, 권한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63240" y="20574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Lv.3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대회 생성/관리, 참가자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Lv.2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자신의 대회만 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52360" y="20574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Lv.1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대회 참가, 클럽 활동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1920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46920" y="2057400"/>
            <a:ext cx="841248" cy="320040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Lv.0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일부 서비스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관리자 대시보드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  대회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대회 CRUD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956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부서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참가자 심사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41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대진표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33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결과 입력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0233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  클럽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클럽 CRUD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956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회원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모임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541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코치 등록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5833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레슨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0233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  시스템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협회 관리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956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FAQ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문의 답변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541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사용자 권한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833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알림 관리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98280" y="4023360"/>
            <a:ext cx="265176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4206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  고객 지원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문의 접수/답변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64040" y="4956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환불 처리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5248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공지사항 관리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5412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가이드 관리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4040" y="58338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1F5F9"/>
                </a:solidFill>
                <a:latin typeface="맑은 고딕"/>
              </a:defRPr>
            </a:pPr>
            <a:r>
              <a:t>•  온보딩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Tennis-Tab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0B981"/>
                </a:solidFill>
                <a:latin typeface="맑은 고딕"/>
              </a:defRPr>
            </a:pPr>
            <a:r>
              <a:t>종합 테니스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200400"/>
            <a:ext cx="23774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맑은 고딕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핵심 도메인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대회·클럽·레슨·커뮤니티·알림·결제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200400"/>
            <a:ext cx="23774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맑은 고딕"/>
              </a:defRPr>
            </a:pPr>
            <a: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알림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사용자 &amp; 관리자 맞춤 알림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23774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맑은 고딕"/>
              </a:defRPr>
            </a:pPr>
            <a:r>
              <a:t>5단계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권한 체계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SUPER_ADMIN → RESTRICTED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200400"/>
            <a:ext cx="23774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337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맑은 고딕"/>
              </a:defRPr>
            </a:pPr>
            <a: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챗봇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대화형 대회 참가 &amp; 검색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Next.js 16  ·  React 19  ·  Supabase  ·  TypeScript  ·  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Toss Payments  ·  Google GenAI  ·  Solapi  · 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